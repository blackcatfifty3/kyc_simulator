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Space Grotesk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SpaceGrotesk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SpaceGrotes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3.png"/><Relationship Id="rId7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9.png"/><Relationship Id="rId7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14400" y="4845248"/>
            <a:ext cx="6096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97465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14400" y="2393751"/>
            <a:ext cx="8901112" cy="1270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Securing Digital KYC in the Deepfake Era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3892748"/>
            <a:ext cx="6572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From automated onboarding to neural puppetry and next-gen hardware attestation.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219200" y="1979414"/>
            <a:ext cx="370879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IDENTITY VERIFICATION &amp; DEFENSE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6362700" y="2267842"/>
            <a:ext cx="5067300" cy="990600"/>
          </a:xfrm>
          <a:prstGeom prst="roundRect">
            <a:avLst>
              <a:gd fmla="val 1346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362700" y="3448942"/>
            <a:ext cx="5067300" cy="990600"/>
          </a:xfrm>
          <a:prstGeom prst="roundRect">
            <a:avLst>
              <a:gd fmla="val 1346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362700" y="4630042"/>
            <a:ext cx="5067300" cy="990600"/>
          </a:xfrm>
          <a:prstGeom prst="roundRect">
            <a:avLst>
              <a:gd fmla="val 1346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39242"/>
            <a:ext cx="50673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39242"/>
            <a:ext cx="50673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DIGITAL TRANSFORMATION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847725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Evolution of Identity Proofing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38925" y="2505967"/>
            <a:ext cx="5553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Zero-Friction Access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38925" y="2829817"/>
            <a:ext cx="5553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Remote onboarding replaces in-person banking counters.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38925" y="3687067"/>
            <a:ext cx="5553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Strict Accountability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38925" y="4010917"/>
            <a:ext cx="5553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Prevents money laundering and synthetic spoofing.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38925" y="4868167"/>
            <a:ext cx="5553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Forensic Audit Trail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38925" y="5192017"/>
            <a:ext cx="5553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Verifiable evidence chains for incident tracing.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762000" y="2877442"/>
            <a:ext cx="3403550" cy="2133600"/>
          </a:xfrm>
          <a:prstGeom prst="roundRect">
            <a:avLst>
              <a:gd fmla="val 71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394150" y="2972692"/>
            <a:ext cx="3403550" cy="1943100"/>
          </a:xfrm>
          <a:prstGeom prst="roundRect">
            <a:avLst>
              <a:gd fmla="val 78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8026300" y="2877442"/>
            <a:ext cx="3403550" cy="2133600"/>
          </a:xfrm>
          <a:prstGeom prst="roundRect">
            <a:avLst>
              <a:gd fmla="val 71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275" y="3229867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9425" y="3325117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575" y="3229867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6337" y="336321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4200" y="345846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40638" y="3363217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DEFENSE ARCHITECTURE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847725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Traditional 3-Tier Security Architecture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57275" y="3915667"/>
            <a:ext cx="369206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Document Check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57275" y="4277617"/>
            <a:ext cx="2908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Government database cross-referencing.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89425" y="4010917"/>
            <a:ext cx="369206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Face Matching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89425" y="4372867"/>
            <a:ext cx="351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Biometric facial landmark alignment.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321575" y="3915667"/>
            <a:ext cx="369206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Liveness Detection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321575" y="4277617"/>
            <a:ext cx="2908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Dynamic eye-blink and head-turn prompts.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2700" y="2039242"/>
            <a:ext cx="50673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2700" y="2039242"/>
            <a:ext cx="50673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75746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29086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624238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EMERGING THREAT VECTOR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62000" y="847725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Cracks in the Shield: Generative AI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2892772"/>
            <a:ext cx="5162550" cy="607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Generative AI has shattered the assumption that video streams guarantee human authenticity.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028700" y="3728888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Synthetic Identities:</a:t>
            </a:r>
            <a:r>
              <a:rPr b="0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Photorealistic faces generated from scratch.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028700" y="4262288"/>
            <a:ext cx="55125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Motion Fluidity:</a:t>
            </a:r>
            <a:r>
              <a:rPr b="0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Responsive real-time facial puppetry.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028700" y="4595663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Automated Bypass:</a:t>
            </a:r>
            <a:r>
              <a:rPr b="0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Static and dynamic challenge-response defeat.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762000" y="2548979"/>
            <a:ext cx="5162550" cy="2790378"/>
          </a:xfrm>
          <a:prstGeom prst="roundRect">
            <a:avLst>
              <a:gd fmla="val 54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6267450" y="2548979"/>
            <a:ext cx="5162550" cy="2790378"/>
          </a:xfrm>
          <a:prstGeom prst="roundRect">
            <a:avLst>
              <a:gd fmla="val 54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4425" y="2934741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9875" y="293474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ATTACK TAXONOMY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62000" y="847725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Primary Deepfake Attack Vectors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114425" y="3349079"/>
            <a:ext cx="5572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Real-Time Face Replacement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19875" y="3349079"/>
            <a:ext cx="5572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Direct Pipeline Video Injection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485900" y="2901404"/>
            <a:ext cx="238779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Neural Puppetry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114425" y="3691979"/>
            <a:ext cx="55721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Target Mapping: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Impostor mimics victim head movements.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114425" y="4019550"/>
            <a:ext cx="55721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Instant Liveness Pass: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System sees expected rotations.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114425" y="4347120"/>
            <a:ext cx="55721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Human Proctor Trick: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Visual inspection fails at distance.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019925" y="2901404"/>
            <a:ext cx="353794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Virtual Camera Hijacking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619875" y="3691979"/>
            <a:ext cx="45529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Bypassed Lens: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Physical camera hardware disabled completely.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19875" y="4232820"/>
            <a:ext cx="45529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Emulator Stream: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Pre-rendered video pushed into driver layer.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619875" y="4773662"/>
            <a:ext cx="55721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Stream Spoofing: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App receives synthetic movie output.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762000" y="2744092"/>
            <a:ext cx="5123408" cy="2400300"/>
          </a:xfrm>
          <a:prstGeom prst="roundRect">
            <a:avLst>
              <a:gd fmla="val 7142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342608" y="2291655"/>
            <a:ext cx="5087391" cy="1114425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6342608" y="3577530"/>
            <a:ext cx="5087391" cy="923925"/>
          </a:xfrm>
          <a:prstGeom prst="roundRect">
            <a:avLst>
              <a:gd fmla="val 1237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6342608" y="4672905"/>
            <a:ext cx="5087391" cy="923925"/>
          </a:xfrm>
          <a:prstGeom prst="roundRect">
            <a:avLst>
              <a:gd fmla="val 1237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3134617"/>
            <a:ext cx="434235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ACTIVE COUNTERMEASURES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62000" y="847725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Defense 1: Photometric Screen Strobing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152525" y="3782317"/>
            <a:ext cx="569934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369A1"/>
                </a:solidFill>
                <a:latin typeface="Space Grotesk"/>
                <a:ea typeface="Space Grotesk"/>
                <a:cs typeface="Space Grotesk"/>
                <a:sym typeface="Space Grotesk"/>
              </a:rPr>
              <a:t>Physics Defeats Pre-Rendering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152525" y="4239517"/>
            <a:ext cx="443760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Randomized RGB screen flashes reflect off human skin contours in microsecond intervals.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580733" y="2529780"/>
            <a:ext cx="561126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Unpredictable Lighting Sequences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580733" y="2786955"/>
            <a:ext cx="47063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Pre-rendered deepfakes cannot anticipate future color sequences.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580733" y="3815655"/>
            <a:ext cx="561126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Sub-Surface Scattering Check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580733" y="4072830"/>
            <a:ext cx="56112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Biological skin absorption properties verified instantly.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580733" y="4911030"/>
            <a:ext cx="561126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Immediate Stream Rejection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580733" y="5168205"/>
            <a:ext cx="56112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Mismatched skin absorption terminates verification session.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/>
          <p:nvPr/>
        </p:nvSpPr>
        <p:spPr>
          <a:xfrm>
            <a:off x="762000" y="2972692"/>
            <a:ext cx="3403550" cy="1943100"/>
          </a:xfrm>
          <a:prstGeom prst="roundRect">
            <a:avLst>
              <a:gd fmla="val 78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4394150" y="2972692"/>
            <a:ext cx="3403550" cy="1943100"/>
          </a:xfrm>
          <a:prstGeom prst="roundRect">
            <a:avLst>
              <a:gd fmla="val 78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8026300" y="2972692"/>
            <a:ext cx="3403550" cy="1943100"/>
          </a:xfrm>
          <a:prstGeom prst="roundRect">
            <a:avLst>
              <a:gd fmla="val 78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325" y="32870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8475" y="32870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0625" y="32870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0150" y="341084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2300" y="341084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64450" y="341084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HARDWARE LAYER DEFENSE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762000" y="847725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Defense 2: Cryptographic Sensor Attestation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076325" y="3896617"/>
            <a:ext cx="364205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Silicon Roots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076325" y="4220467"/>
            <a:ext cx="2870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Direct queries to Apple Secure Enclave &amp; Android StrongBox.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4708475" y="3896617"/>
            <a:ext cx="364205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Signed Frames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4708475" y="4220467"/>
            <a:ext cx="2870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Cryptographic proof raw sensor captured the feed milliseconds ago.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340625" y="3896617"/>
            <a:ext cx="364205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Emulator Kill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340625" y="4220467"/>
            <a:ext cx="2870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Virtual camera drivers and injection hooks disconnect on trigger.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/>
          <p:nvPr/>
        </p:nvSpPr>
        <p:spPr>
          <a:xfrm>
            <a:off x="6344394" y="2691705"/>
            <a:ext cx="5085605" cy="2505075"/>
          </a:xfrm>
          <a:prstGeom prst="roundRect">
            <a:avLst>
              <a:gd fmla="val 684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762000" y="4510980"/>
            <a:ext cx="2448371" cy="819150"/>
          </a:xfrm>
          <a:prstGeom prst="roundRect">
            <a:avLst>
              <a:gd fmla="val 139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362771" y="4510980"/>
            <a:ext cx="2448371" cy="819150"/>
          </a:xfrm>
          <a:prstGeom prst="roundRect">
            <a:avLst>
              <a:gd fmla="val 139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7294" y="3053655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7294" y="365373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7294" y="4444305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CREDENTIAL VERIFICATION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762000" y="847725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Defense 3: Direct NFC Chip Interrogation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762000" y="2558355"/>
            <a:ext cx="54014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Eliminating Document Photo Manipulation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62000" y="3434655"/>
            <a:ext cx="5144244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Optical card scanning is easily fooled by Photoshop. Reading embedded cryptographic chips guarantees sovereign authenticity.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962025" y="4711005"/>
            <a:ext cx="256040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ICAO 9303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962025" y="4949130"/>
            <a:ext cx="256040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Global passport standard.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3562796" y="4711005"/>
            <a:ext cx="256040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Signed Biometrics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3562796" y="4949130"/>
            <a:ext cx="256040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Encrypted state certificates.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7020669" y="3034605"/>
            <a:ext cx="51006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RFID Contactless Read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7020669" y="3272730"/>
            <a:ext cx="4857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User taps national ID/passport against phone antenna.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7020669" y="3634680"/>
            <a:ext cx="517133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Tamper-Proof Extraction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7020669" y="3872805"/>
            <a:ext cx="416168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High-resolution source photo extracted directly from chip.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7020669" y="4425255"/>
            <a:ext cx="43005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Zero Image Alteration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7020669" y="4663380"/>
            <a:ext cx="4095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Cannot be altered via image editing software.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/>
          <p:nvPr/>
        </p:nvSpPr>
        <p:spPr>
          <a:xfrm>
            <a:off x="762000" y="2972692"/>
            <a:ext cx="3403550" cy="1943100"/>
          </a:xfrm>
          <a:prstGeom prst="roundRect">
            <a:avLst>
              <a:gd fmla="val 78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4394150" y="2972692"/>
            <a:ext cx="3403550" cy="1943100"/>
          </a:xfrm>
          <a:prstGeom prst="roundRect">
            <a:avLst>
              <a:gd fmla="val 78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8026300" y="2972692"/>
            <a:ext cx="3403550" cy="1943100"/>
          </a:xfrm>
          <a:prstGeom prst="roundRect">
            <a:avLst>
              <a:gd fmla="val 78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325" y="32870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8475" y="32870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0625" y="32870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4437" y="3410842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3725" y="3410842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35875" y="3410842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PLATFORM PARITY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762000" y="847725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Securing Desktop &amp; Web Browsers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1076325" y="3896617"/>
            <a:ext cx="364205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Mobile Handoff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1076325" y="4220467"/>
            <a:ext cx="2870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Routes desktop users to phone cameras via secure QR code.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4708475" y="3896617"/>
            <a:ext cx="364205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FFT Frequency Check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4708475" y="4220467"/>
            <a:ext cx="2870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Fast Fourier Transforms flag synthetic generative pixel artifacts.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8340625" y="3896617"/>
            <a:ext cx="364205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Human Proctoring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8340625" y="4220467"/>
            <a:ext cx="2870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Contextual questions and physical document cheek alignment.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/>
          <p:nvPr/>
        </p:nvSpPr>
        <p:spPr>
          <a:xfrm>
            <a:off x="762000" y="3263205"/>
            <a:ext cx="2552700" cy="1362075"/>
          </a:xfrm>
          <a:prstGeom prst="roundRect">
            <a:avLst>
              <a:gd fmla="val 979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3467100" y="3172717"/>
            <a:ext cx="2552700" cy="1543050"/>
          </a:xfrm>
          <a:prstGeom prst="roundRect">
            <a:avLst>
              <a:gd fmla="val 864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6172200" y="3263205"/>
            <a:ext cx="2552700" cy="1362075"/>
          </a:xfrm>
          <a:prstGeom prst="roundRect">
            <a:avLst>
              <a:gd fmla="val 979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8877300" y="3263205"/>
            <a:ext cx="2552700" cy="1362075"/>
          </a:xfrm>
          <a:prstGeom prst="roundRect">
            <a:avLst>
              <a:gd fmla="val 979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962025" y="350133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3667125" y="3410842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6372225" y="350133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9077325" y="350133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UNIFIED DEFENSE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762000" y="847725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Modern Multi-Modal Verification Flow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819150" y="3501330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962025" y="3958530"/>
            <a:ext cx="282535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Hardware Audit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962025" y="4206180"/>
            <a:ext cx="2690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Validates Secure Enclave.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3524250" y="3410842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3667125" y="3868042"/>
            <a:ext cx="282535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NFC Read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3667125" y="4115692"/>
            <a:ext cx="22479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Extracts signed sovereign photo.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229350" y="3501330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6372225" y="3958530"/>
            <a:ext cx="282535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Color Strobe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6372225" y="4206180"/>
            <a:ext cx="2690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Tests photometric skin reflex.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8934450" y="3501330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9077325" y="3958530"/>
            <a:ext cx="282535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FFT Analysis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9077325" y="4206180"/>
            <a:ext cx="2690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Scans frame artifacts.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"/>
          <p:cNvSpPr/>
          <p:nvPr/>
        </p:nvSpPr>
        <p:spPr>
          <a:xfrm>
            <a:off x="762000" y="3025080"/>
            <a:ext cx="3352800" cy="1838325"/>
          </a:xfrm>
          <a:prstGeom prst="roundRect">
            <a:avLst>
              <a:gd fmla="val 82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419600" y="3025080"/>
            <a:ext cx="3352800" cy="1838325"/>
          </a:xfrm>
          <a:prstGeom prst="roundRect">
            <a:avLst>
              <a:gd fmla="val 82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8077200" y="3025080"/>
            <a:ext cx="3352800" cy="1838325"/>
          </a:xfrm>
          <a:prstGeom prst="roundRect">
            <a:avLst>
              <a:gd fmla="val 82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STRATEGIC SUMMARY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762000" y="847725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Defense In Depth Metrics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1000125" y="3377505"/>
            <a:ext cx="3595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3-Tier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1000125" y="4101405"/>
            <a:ext cx="35956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Hardware + Physics + Math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1000125" y="4330005"/>
            <a:ext cx="35956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Layered anti-spoofing defense.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4657725" y="3377505"/>
            <a:ext cx="3595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0%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4657725" y="4101405"/>
            <a:ext cx="35956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Driver Bypass Tolerance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4657725" y="4330005"/>
            <a:ext cx="35956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Secured hardware sensor feeds.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8315325" y="3377505"/>
            <a:ext cx="3595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8315325" y="4101405"/>
            <a:ext cx="35956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Cryptographic Integrity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8315325" y="4330005"/>
            <a:ext cx="35956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Immutable NFC chip certificates.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>
            <a:off x="762000" y="2834580"/>
            <a:ext cx="3403550" cy="2219325"/>
          </a:xfrm>
          <a:prstGeom prst="roundRect">
            <a:avLst>
              <a:gd fmla="val 68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4394150" y="2834580"/>
            <a:ext cx="3403550" cy="2219325"/>
          </a:xfrm>
          <a:prstGeom prst="roundRect">
            <a:avLst>
              <a:gd fmla="val 68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8026300" y="2834580"/>
            <a:ext cx="3403550" cy="2219325"/>
          </a:xfrm>
          <a:prstGeom prst="roundRect">
            <a:avLst>
              <a:gd fmla="val 68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8" name="Google Shape;29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" y="31489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0375" y="31489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2525" y="31489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762" y="3272730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4200" y="327273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6350" y="327273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4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INSTITUTIONAL IMPLEMENTATION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762000" y="847725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Overview of KYC at J.P. Morgan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1038225" y="3758505"/>
            <a:ext cx="374206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Mandatory Attributes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1038225" y="4082355"/>
            <a:ext cx="2946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Name, PAN, Address, Mobile, Email ID, and Income Range.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1038225" y="4577655"/>
            <a:ext cx="3563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J.P. Morgan KYC Compliance Advisory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4670375" y="3758505"/>
            <a:ext cx="374206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KYC Workflow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4670375" y="4082355"/>
            <a:ext cx="2946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CIP, MDD, CDD, EDD, Sanction lists, and PEP screening.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4670375" y="4577655"/>
            <a:ext cx="3563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Global AML Compliance Program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8302525" y="3758505"/>
            <a:ext cx="374206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Client Services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8302525" y="4082355"/>
            <a:ext cx="2946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Corporate and institutional account opening operations.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8302525" y="4577655"/>
            <a:ext cx="3563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Dedicated Operations Teams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/>
          <p:nvPr/>
        </p:nvSpPr>
        <p:spPr>
          <a:xfrm>
            <a:off x="5867400" y="5001517"/>
            <a:ext cx="457200" cy="28575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0" name="Google Shape;32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300" y="1827907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6462" y="1970782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5"/>
          <p:cNvSpPr txBox="1"/>
          <p:nvPr/>
        </p:nvSpPr>
        <p:spPr>
          <a:xfrm>
            <a:off x="1345406" y="2589907"/>
            <a:ext cx="9501187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Identity Defense Must Evolve with AI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2643187" y="3839467"/>
            <a:ext cx="69056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Physics-based challenge-response and chip-level cryptography ensure identity verification stays ahead of synthetic deception.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1" name="Google Shape;33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965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81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6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1666875" y="1052512"/>
            <a:ext cx="87034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https://content.kaspersky-labs.com/se/com/content/en-global/images/repository/isc/48-Biometrics/48-Biometrics.jpg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1666875" y="1252537"/>
            <a:ext cx="2619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www.kaspersky.com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1666875" y="1824037"/>
            <a:ext cx="5310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https://www.derebus.org.za/wp-content/uploads/2026/03/Ndobeni.jpg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1666875" y="2024062"/>
            <a:ext cx="263128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www.derebus.org.za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