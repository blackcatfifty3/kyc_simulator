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3" d="100"/>
          <a:sy n="73" d="100"/>
        </p:scale>
        <p:origin x="3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DC882-2690-9A75-D778-631BBE6FA5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D1C51D-F320-031F-A956-15D58DE2B1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0613EB8-845F-3354-AB43-D65D9FFD01C3}"/>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5" name="Footer Placeholder 4">
            <a:extLst>
              <a:ext uri="{FF2B5EF4-FFF2-40B4-BE49-F238E27FC236}">
                <a16:creationId xmlns:a16="http://schemas.microsoft.com/office/drawing/2014/main" id="{8F42504B-4051-66F0-25C5-0D104DDD63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19FC4C-C602-309F-3A3A-6EBE18A1B1B2}"/>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2812360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F4F0-71ED-258B-6EB8-9EEA8E7AF3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B9A367C-BE0E-5857-5A5F-AE40E2F1A7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A8B7A9-0EBC-B2FF-EB72-D3C8D62F864F}"/>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5" name="Footer Placeholder 4">
            <a:extLst>
              <a:ext uri="{FF2B5EF4-FFF2-40B4-BE49-F238E27FC236}">
                <a16:creationId xmlns:a16="http://schemas.microsoft.com/office/drawing/2014/main" id="{A9007B94-B9C9-61C5-3C6D-C3114FED0A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D6CA3F-A3C7-EAEF-F6FC-7DD4E2F9BE38}"/>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3990299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7B173-63B6-00BE-9715-3FFEE17FFA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2E5AE74-AA07-0EA3-4A7A-75B66321CA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9C3EEB-CF79-703A-F7B0-FF7335FB6A27}"/>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5" name="Footer Placeholder 4">
            <a:extLst>
              <a:ext uri="{FF2B5EF4-FFF2-40B4-BE49-F238E27FC236}">
                <a16:creationId xmlns:a16="http://schemas.microsoft.com/office/drawing/2014/main" id="{D4756716-4C0D-4D69-F8B8-0B739FB832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2203E4-65B9-A8CF-018B-2BE80DE887BA}"/>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244491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9554E-8D1F-8203-0193-764169C93C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99BDAA1-7BD2-B604-0B03-B744C9F51D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C7BD2C-4702-301C-F316-FD9097C771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0D1C71-7382-36D5-DC07-01D63BC02F44}"/>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6" name="Footer Placeholder 5">
            <a:extLst>
              <a:ext uri="{FF2B5EF4-FFF2-40B4-BE49-F238E27FC236}">
                <a16:creationId xmlns:a16="http://schemas.microsoft.com/office/drawing/2014/main" id="{DE0F0B82-17F3-A6E9-5D76-A802C0066E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23BB56-7AFC-D49F-CFB6-7CC1713665E6}"/>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3415502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AF2C-FD91-0C36-74D6-FDA9212EF0E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BD3E81-7EED-EF36-3408-710876E417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D38202-8311-C57B-1B73-3469A14CB6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EE2D51-BC72-FCDC-ED70-6EFBEEC48D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D50E72-55C3-83AB-31D0-76873ECEF2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1D99121-6B57-174C-8972-DF71273905CB}"/>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8" name="Footer Placeholder 7">
            <a:extLst>
              <a:ext uri="{FF2B5EF4-FFF2-40B4-BE49-F238E27FC236}">
                <a16:creationId xmlns:a16="http://schemas.microsoft.com/office/drawing/2014/main" id="{EEBBBD26-5F61-C1D9-DB7E-4C9C688CFB9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63260F-599B-0FE9-D2C1-FD75435193E4}"/>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3918726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27D18-F61A-5AD1-2A36-04DA5F36FB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E971D44-9D79-065C-718E-3A7E629D48EA}"/>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4" name="Footer Placeholder 3">
            <a:extLst>
              <a:ext uri="{FF2B5EF4-FFF2-40B4-BE49-F238E27FC236}">
                <a16:creationId xmlns:a16="http://schemas.microsoft.com/office/drawing/2014/main" id="{185934D1-A56B-AB80-35EE-7840F55479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9227CC-1819-BFC8-8AF0-9839222285B6}"/>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1025889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64DEDA-8AA4-2009-E67C-E39826534F67}"/>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3" name="Footer Placeholder 2">
            <a:extLst>
              <a:ext uri="{FF2B5EF4-FFF2-40B4-BE49-F238E27FC236}">
                <a16:creationId xmlns:a16="http://schemas.microsoft.com/office/drawing/2014/main" id="{BABDFE2E-BCE9-5374-6F5E-9EF2AC8DA95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21606C-5C38-9E82-C3A9-DB13E9732C2A}"/>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2571031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D9859-5054-8829-A825-863015622A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293A0C3-6B01-F977-B4D3-F8C3AE9D0C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4E2E955-DC24-3DE9-48CD-0D9762019F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6C91EC-1693-EAD8-BFCA-A0D5BBB2C9AC}"/>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6" name="Footer Placeholder 5">
            <a:extLst>
              <a:ext uri="{FF2B5EF4-FFF2-40B4-BE49-F238E27FC236}">
                <a16:creationId xmlns:a16="http://schemas.microsoft.com/office/drawing/2014/main" id="{DED3F097-7E13-835F-0E88-19776D8B5C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6D0E14B-EAA0-38ED-6DF4-31C3DF770AB2}"/>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2339125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6C94B-F56D-1B34-83BA-3E7ABF53BB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CC26B2-42DA-A867-B8C1-4AB226963C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0F3338-BEF7-0CDA-135E-4E51F17F0A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B2DE41-9F5F-75B3-BBB0-53B13E768A46}"/>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6" name="Footer Placeholder 5">
            <a:extLst>
              <a:ext uri="{FF2B5EF4-FFF2-40B4-BE49-F238E27FC236}">
                <a16:creationId xmlns:a16="http://schemas.microsoft.com/office/drawing/2014/main" id="{9D5B611F-B1E1-DC22-7747-7260A2217C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7AF58E-847F-0FAA-6806-5C6C5FE3AD26}"/>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47113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1CBD2-938A-2B0F-180C-5A4A5AD68BE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90CB32-88B8-3828-8912-FC3AE0E4F8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3BAEFD-8787-44E3-0584-492F1456B0E0}"/>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5" name="Footer Placeholder 4">
            <a:extLst>
              <a:ext uri="{FF2B5EF4-FFF2-40B4-BE49-F238E27FC236}">
                <a16:creationId xmlns:a16="http://schemas.microsoft.com/office/drawing/2014/main" id="{6A753701-FD86-C84D-5DFB-6578978367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77F7BF-A5CF-1C2B-D06F-76A8D1BF90BF}"/>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103369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481E8F-2555-6D81-BD38-39B86E4404C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9046CE9-7774-B09A-4FFC-4F2648ADC3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29DCC-EF55-090E-6D61-8062748C0470}"/>
              </a:ext>
            </a:extLst>
          </p:cNvPr>
          <p:cNvSpPr>
            <a:spLocks noGrp="1"/>
          </p:cNvSpPr>
          <p:nvPr>
            <p:ph type="dt" sz="half" idx="10"/>
          </p:nvPr>
        </p:nvSpPr>
        <p:spPr/>
        <p:txBody>
          <a:bodyPr/>
          <a:lstStyle/>
          <a:p>
            <a:fld id="{0DEA3CB5-ADDF-4715-9A88-6D3812DDB567}" type="datetimeFigureOut">
              <a:rPr lang="en-IN" smtClean="0"/>
              <a:t>25-10-2026</a:t>
            </a:fld>
            <a:endParaRPr lang="en-IN"/>
          </a:p>
        </p:txBody>
      </p:sp>
      <p:sp>
        <p:nvSpPr>
          <p:cNvPr id="5" name="Footer Placeholder 4">
            <a:extLst>
              <a:ext uri="{FF2B5EF4-FFF2-40B4-BE49-F238E27FC236}">
                <a16:creationId xmlns:a16="http://schemas.microsoft.com/office/drawing/2014/main" id="{D2FDBB2F-CC30-B55A-39B3-FDF3C96A97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E367F6-A179-8DC6-A260-4B69F4600894}"/>
              </a:ext>
            </a:extLst>
          </p:cNvPr>
          <p:cNvSpPr>
            <a:spLocks noGrp="1"/>
          </p:cNvSpPr>
          <p:nvPr>
            <p:ph type="sldNum" sz="quarter" idx="12"/>
          </p:nvPr>
        </p:nvSpPr>
        <p:spPr/>
        <p:txBody>
          <a:bodyPr/>
          <a:lstStyle/>
          <a:p>
            <a:fld id="{811F6EAA-D7CF-4672-8497-D117A33A0E96}" type="slidenum">
              <a:rPr lang="en-IN" smtClean="0"/>
              <a:t>‹#›</a:t>
            </a:fld>
            <a:endParaRPr lang="en-IN"/>
          </a:p>
        </p:txBody>
      </p:sp>
    </p:spTree>
    <p:extLst>
      <p:ext uri="{BB962C8B-B14F-4D97-AF65-F5344CB8AC3E}">
        <p14:creationId xmlns:p14="http://schemas.microsoft.com/office/powerpoint/2010/main" val="1010843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8BC97-B54A-7203-432F-D2AE9F9C55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29D84F-FD1F-70B3-D9B0-3E8C775B88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B871A5-3D87-18F3-AE70-2B2E3920F6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EA3CB5-ADDF-4715-9A88-6D3812DDB567}" type="datetimeFigureOut">
              <a:rPr lang="en-IN" smtClean="0"/>
              <a:t>25-10-2026</a:t>
            </a:fld>
            <a:endParaRPr lang="en-IN"/>
          </a:p>
        </p:txBody>
      </p:sp>
      <p:sp>
        <p:nvSpPr>
          <p:cNvPr id="5" name="Footer Placeholder 4">
            <a:extLst>
              <a:ext uri="{FF2B5EF4-FFF2-40B4-BE49-F238E27FC236}">
                <a16:creationId xmlns:a16="http://schemas.microsoft.com/office/drawing/2014/main" id="{42AB6E1D-2E2F-9432-CFA0-CD529C8158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6B7474-88A1-3AE2-6B76-7E0604291A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1F6EAA-D7CF-4672-8497-D117A33A0E96}" type="slidenum">
              <a:rPr lang="en-IN" smtClean="0"/>
              <a:t>‹#›</a:t>
            </a:fld>
            <a:endParaRPr lang="en-IN"/>
          </a:p>
        </p:txBody>
      </p:sp>
    </p:spTree>
    <p:extLst>
      <p:ext uri="{BB962C8B-B14F-4D97-AF65-F5344CB8AC3E}">
        <p14:creationId xmlns:p14="http://schemas.microsoft.com/office/powerpoint/2010/main" val="210646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3ABC80-3391-FF31-3507-B00ED2ED1371}"/>
              </a:ext>
            </a:extLst>
          </p:cNvPr>
          <p:cNvSpPr>
            <a:spLocks noGrp="1"/>
          </p:cNvSpPr>
          <p:nvPr>
            <p:ph idx="1"/>
          </p:nvPr>
        </p:nvSpPr>
        <p:spPr>
          <a:xfrm>
            <a:off x="707571" y="740229"/>
            <a:ext cx="10515600" cy="4992597"/>
          </a:xfrm>
        </p:spPr>
        <p:txBody>
          <a:bodyPr/>
          <a:lstStyle/>
          <a:p>
            <a:pPr marL="0" indent="0">
              <a:buNone/>
            </a:pPr>
            <a:r>
              <a:rPr lang="en-IN" dirty="0"/>
              <a:t>There was a time we used to used to stand in front of a counter to open a bank account, get a loan or purchase a sim card. That friction is now gone, since everything now can be done digitally, without moving from our place. So how do we ensure that the person who is opening an account, or the loan is sanctioned for, is actually the same person they claim to be?</a:t>
            </a:r>
            <a:br>
              <a:rPr lang="en-IN" dirty="0"/>
            </a:br>
            <a:br>
              <a:rPr lang="en-IN" dirty="0"/>
            </a:br>
            <a:r>
              <a:rPr lang="en-IN" dirty="0"/>
              <a:t>It is KYC – know your customer.</a:t>
            </a:r>
            <a:br>
              <a:rPr lang="en-IN" dirty="0"/>
            </a:br>
            <a:br>
              <a:rPr lang="en-IN" dirty="0"/>
            </a:br>
            <a:r>
              <a:rPr lang="en-IN" dirty="0"/>
              <a:t>To put it simply, it is kind of a security guard that ensures a person’s identity. This is to prevent frauds like money laundering, spoofing etc.</a:t>
            </a:r>
          </a:p>
        </p:txBody>
      </p:sp>
    </p:spTree>
    <p:extLst>
      <p:ext uri="{BB962C8B-B14F-4D97-AF65-F5344CB8AC3E}">
        <p14:creationId xmlns:p14="http://schemas.microsoft.com/office/powerpoint/2010/main" val="3634633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908F4-845D-B0EC-1332-84D1B9E50ED6}"/>
              </a:ext>
            </a:extLst>
          </p:cNvPr>
          <p:cNvSpPr>
            <a:spLocks noGrp="1"/>
          </p:cNvSpPr>
          <p:nvPr>
            <p:ph type="title"/>
          </p:nvPr>
        </p:nvSpPr>
        <p:spPr/>
        <p:txBody>
          <a:bodyPr/>
          <a:lstStyle/>
          <a:p>
            <a:r>
              <a:rPr lang="en-IN" dirty="0"/>
              <a:t>Why is it required?</a:t>
            </a:r>
          </a:p>
        </p:txBody>
      </p:sp>
      <p:sp>
        <p:nvSpPr>
          <p:cNvPr id="3" name="Content Placeholder 2">
            <a:extLst>
              <a:ext uri="{FF2B5EF4-FFF2-40B4-BE49-F238E27FC236}">
                <a16:creationId xmlns:a16="http://schemas.microsoft.com/office/drawing/2014/main" id="{28E60C6D-8514-A374-9C6D-46C3D8953AAB}"/>
              </a:ext>
            </a:extLst>
          </p:cNvPr>
          <p:cNvSpPr>
            <a:spLocks noGrp="1"/>
          </p:cNvSpPr>
          <p:nvPr>
            <p:ph idx="1"/>
          </p:nvPr>
        </p:nvSpPr>
        <p:spPr/>
        <p:txBody>
          <a:bodyPr/>
          <a:lstStyle/>
          <a:p>
            <a:pPr marL="0" indent="0">
              <a:buNone/>
            </a:pPr>
            <a:r>
              <a:rPr lang="en-IN" dirty="0"/>
              <a:t>As we have established, KYC creates accountability. When you, for example, create a bank account, you provide some form of evidence to the entity to prove your identity – this could be your </a:t>
            </a:r>
            <a:r>
              <a:rPr lang="en-IN" dirty="0" err="1"/>
              <a:t>licnese</a:t>
            </a:r>
            <a:r>
              <a:rPr lang="en-IN" dirty="0"/>
              <a:t>, </a:t>
            </a:r>
            <a:r>
              <a:rPr lang="en-IN" dirty="0" err="1"/>
              <a:t>adhaar</a:t>
            </a:r>
            <a:r>
              <a:rPr lang="en-IN" dirty="0"/>
              <a:t> or passport along with your biometric data, usually a selfie or a video call. What this does is for example if you somehow lose your license, another person can’t use it to create a bank account because they will fail in the photographic test. It also leaves a paper trail if in case someone is able to breach the system so investigators can trace it back.</a:t>
            </a:r>
          </a:p>
        </p:txBody>
      </p:sp>
    </p:spTree>
    <p:extLst>
      <p:ext uri="{BB962C8B-B14F-4D97-AF65-F5344CB8AC3E}">
        <p14:creationId xmlns:p14="http://schemas.microsoft.com/office/powerpoint/2010/main" val="2818389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CC786-9EBA-BC64-F8E1-201EAD65F531}"/>
              </a:ext>
            </a:extLst>
          </p:cNvPr>
          <p:cNvSpPr>
            <a:spLocks noGrp="1"/>
          </p:cNvSpPr>
          <p:nvPr>
            <p:ph type="title"/>
          </p:nvPr>
        </p:nvSpPr>
        <p:spPr/>
        <p:txBody>
          <a:bodyPr/>
          <a:lstStyle/>
          <a:p>
            <a:r>
              <a:rPr lang="en-IN" dirty="0"/>
              <a:t>The traditional security</a:t>
            </a:r>
          </a:p>
        </p:txBody>
      </p:sp>
      <p:sp>
        <p:nvSpPr>
          <p:cNvPr id="3" name="Content Placeholder 2">
            <a:extLst>
              <a:ext uri="{FF2B5EF4-FFF2-40B4-BE49-F238E27FC236}">
                <a16:creationId xmlns:a16="http://schemas.microsoft.com/office/drawing/2014/main" id="{55EE49C6-2F08-431B-E6FA-CC43F049A2E2}"/>
              </a:ext>
            </a:extLst>
          </p:cNvPr>
          <p:cNvSpPr>
            <a:spLocks noGrp="1"/>
          </p:cNvSpPr>
          <p:nvPr>
            <p:ph idx="1"/>
          </p:nvPr>
        </p:nvSpPr>
        <p:spPr/>
        <p:txBody>
          <a:bodyPr/>
          <a:lstStyle/>
          <a:p>
            <a:r>
              <a:rPr lang="en-IN" dirty="0"/>
              <a:t>KYC was built around 3 common checks:</a:t>
            </a:r>
          </a:p>
          <a:p>
            <a:r>
              <a:rPr lang="en-IN" dirty="0"/>
              <a:t>Document verification – your license, passport etc., barcodes are verified and registry is cross checked.</a:t>
            </a:r>
          </a:p>
          <a:p>
            <a:r>
              <a:rPr lang="en-IN" dirty="0"/>
              <a:t>Biometric face matching – the system extracts a photo from your license and matches it with your selfie. Algorithm checks for minute details such as gap between your eyes, jawline and confirms the person’s identity.</a:t>
            </a:r>
          </a:p>
          <a:p>
            <a:r>
              <a:rPr lang="en-IN" dirty="0"/>
              <a:t>Liveness detection – a newer addition against a static photo fraud. The app or invigilator asks you to do something dynamic – like blinking your eyes, lifting your hands or turning your head etc.</a:t>
            </a:r>
          </a:p>
        </p:txBody>
      </p:sp>
    </p:spTree>
    <p:extLst>
      <p:ext uri="{BB962C8B-B14F-4D97-AF65-F5344CB8AC3E}">
        <p14:creationId xmlns:p14="http://schemas.microsoft.com/office/powerpoint/2010/main" val="2620820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DF294-D7CA-4C94-879B-FC1FC1C6E118}"/>
              </a:ext>
            </a:extLst>
          </p:cNvPr>
          <p:cNvSpPr>
            <a:spLocks noGrp="1"/>
          </p:cNvSpPr>
          <p:nvPr>
            <p:ph type="title"/>
          </p:nvPr>
        </p:nvSpPr>
        <p:spPr/>
        <p:txBody>
          <a:bodyPr/>
          <a:lstStyle/>
          <a:p>
            <a:r>
              <a:rPr lang="en-IN" dirty="0"/>
              <a:t>Crack in the shield: Deepfakes</a:t>
            </a:r>
          </a:p>
        </p:txBody>
      </p:sp>
      <p:sp>
        <p:nvSpPr>
          <p:cNvPr id="3" name="Content Placeholder 2">
            <a:extLst>
              <a:ext uri="{FF2B5EF4-FFF2-40B4-BE49-F238E27FC236}">
                <a16:creationId xmlns:a16="http://schemas.microsoft.com/office/drawing/2014/main" id="{61258F03-99E0-3348-E42F-62086BCA6989}"/>
              </a:ext>
            </a:extLst>
          </p:cNvPr>
          <p:cNvSpPr>
            <a:spLocks noGrp="1"/>
          </p:cNvSpPr>
          <p:nvPr>
            <p:ph idx="1"/>
          </p:nvPr>
        </p:nvSpPr>
        <p:spPr>
          <a:xfrm>
            <a:off x="838200" y="1393371"/>
            <a:ext cx="10515600" cy="4783592"/>
          </a:xfrm>
        </p:spPr>
        <p:txBody>
          <a:bodyPr>
            <a:normAutofit fontScale="85000" lnSpcReduction="20000"/>
          </a:bodyPr>
          <a:lstStyle/>
          <a:p>
            <a:pPr marL="0" indent="0">
              <a:buNone/>
            </a:pPr>
            <a:r>
              <a:rPr lang="en-IN" dirty="0"/>
              <a:t>Generative AI has disrupted a system that was once thought to be foolproof. Internet is flooded with ‘synthetic’ identities generated via AI that can not only generate or clone static images, but also generate motions that are remarkably accurate and easy.</a:t>
            </a:r>
          </a:p>
          <a:p>
            <a:pPr>
              <a:buFontTx/>
              <a:buChar char="-"/>
            </a:pPr>
            <a:r>
              <a:rPr lang="en-IN" dirty="0"/>
              <a:t>Real time neural puppetry : Imagine an attacker sitting in front of the camera. A specialized AI software can then create an overlay of the victim’s face on top. So when the invigilator asks to turn the head, the attacker does so, the AI overlay replicates it in </a:t>
            </a:r>
            <a:r>
              <a:rPr lang="en-IN" dirty="0" err="1"/>
              <a:t>realtime</a:t>
            </a:r>
            <a:r>
              <a:rPr lang="en-IN" dirty="0"/>
              <a:t> and unless looked closely, it can trick anyone into believing that the victim did it.</a:t>
            </a:r>
          </a:p>
          <a:p>
            <a:pPr>
              <a:buFontTx/>
              <a:buChar char="-"/>
            </a:pPr>
            <a:r>
              <a:rPr lang="en-IN" dirty="0"/>
              <a:t>Virtual camera hijacking : this is a more complex attack. When we see a camera output in video call, we assume it is raw and instant, and most of the time it is. But attackers can run the app on a modified system or a jailbroken phone – where the actual camera is not even used. They inject a video directly into the stream where the data from the camera flows into the app. While the app thinks it is receiving raw feed from the camera, it is actually being pre-rendered and generated. You are basically watching a movie than a camera output.</a:t>
            </a:r>
          </a:p>
        </p:txBody>
      </p:sp>
    </p:spTree>
    <p:extLst>
      <p:ext uri="{BB962C8B-B14F-4D97-AF65-F5344CB8AC3E}">
        <p14:creationId xmlns:p14="http://schemas.microsoft.com/office/powerpoint/2010/main" val="2047491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3D7FC-7151-F682-6159-750AFA355434}"/>
              </a:ext>
            </a:extLst>
          </p:cNvPr>
          <p:cNvSpPr>
            <a:spLocks noGrp="1"/>
          </p:cNvSpPr>
          <p:nvPr>
            <p:ph type="title"/>
          </p:nvPr>
        </p:nvSpPr>
        <p:spPr>
          <a:xfrm>
            <a:off x="838200" y="365126"/>
            <a:ext cx="10515600" cy="862784"/>
          </a:xfrm>
        </p:spPr>
        <p:txBody>
          <a:bodyPr/>
          <a:lstStyle/>
          <a:p>
            <a:r>
              <a:rPr lang="en-IN" dirty="0"/>
              <a:t>How do we secure </a:t>
            </a:r>
            <a:r>
              <a:rPr lang="en-IN" dirty="0" err="1"/>
              <a:t>kyc</a:t>
            </a:r>
            <a:r>
              <a:rPr lang="en-IN" dirty="0"/>
              <a:t> against deepfakes?</a:t>
            </a:r>
          </a:p>
        </p:txBody>
      </p:sp>
      <p:sp>
        <p:nvSpPr>
          <p:cNvPr id="3" name="Content Placeholder 2">
            <a:extLst>
              <a:ext uri="{FF2B5EF4-FFF2-40B4-BE49-F238E27FC236}">
                <a16:creationId xmlns:a16="http://schemas.microsoft.com/office/drawing/2014/main" id="{9100F5A7-AACE-6C17-89AC-A630C0B1233F}"/>
              </a:ext>
            </a:extLst>
          </p:cNvPr>
          <p:cNvSpPr>
            <a:spLocks noGrp="1"/>
          </p:cNvSpPr>
          <p:nvPr>
            <p:ph idx="1"/>
          </p:nvPr>
        </p:nvSpPr>
        <p:spPr>
          <a:xfrm>
            <a:off x="838200" y="1297577"/>
            <a:ext cx="10515600" cy="4879386"/>
          </a:xfrm>
        </p:spPr>
        <p:txBody>
          <a:bodyPr/>
          <a:lstStyle/>
          <a:p>
            <a:pPr marL="0" indent="0">
              <a:buNone/>
            </a:pPr>
            <a:r>
              <a:rPr lang="en-IN" dirty="0"/>
              <a:t>Simple.</a:t>
            </a:r>
          </a:p>
          <a:p>
            <a:pPr marL="0" indent="0">
              <a:buNone/>
            </a:pPr>
            <a:r>
              <a:rPr lang="en-IN" dirty="0"/>
              <a:t>We go to the bank in person, and get it done.</a:t>
            </a:r>
          </a:p>
        </p:txBody>
      </p:sp>
    </p:spTree>
    <p:extLst>
      <p:ext uri="{BB962C8B-B14F-4D97-AF65-F5344CB8AC3E}">
        <p14:creationId xmlns:p14="http://schemas.microsoft.com/office/powerpoint/2010/main" val="2872025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4206A1-3E13-A2A3-2E8C-626497B3FA15}"/>
              </a:ext>
            </a:extLst>
          </p:cNvPr>
          <p:cNvSpPr>
            <a:spLocks noGrp="1"/>
          </p:cNvSpPr>
          <p:nvPr>
            <p:ph idx="1"/>
          </p:nvPr>
        </p:nvSpPr>
        <p:spPr>
          <a:xfrm>
            <a:off x="838200" y="496389"/>
            <a:ext cx="10515600" cy="5680574"/>
          </a:xfrm>
        </p:spPr>
        <p:txBody>
          <a:bodyPr>
            <a:normAutofit fontScale="85000" lnSpcReduction="20000"/>
          </a:bodyPr>
          <a:lstStyle/>
          <a:p>
            <a:pPr marL="0" indent="0">
              <a:buNone/>
            </a:pPr>
            <a:r>
              <a:rPr lang="en-IN" dirty="0"/>
              <a:t>That is one option.</a:t>
            </a:r>
          </a:p>
          <a:p>
            <a:pPr marL="0" indent="0">
              <a:buNone/>
            </a:pPr>
            <a:r>
              <a:rPr lang="en-IN" dirty="0"/>
              <a:t>But physics comes to the rescue.</a:t>
            </a:r>
            <a:br>
              <a:rPr lang="en-IN" dirty="0"/>
            </a:br>
            <a:br>
              <a:rPr lang="en-IN" dirty="0"/>
            </a:br>
            <a:r>
              <a:rPr lang="en-IN" dirty="0"/>
              <a:t>- Light reflection challenges: newer apps can utilize the phone’s screen to flash random </a:t>
            </a:r>
            <a:r>
              <a:rPr lang="en-IN" dirty="0" err="1"/>
              <a:t>colors</a:t>
            </a:r>
            <a:r>
              <a:rPr lang="en-IN" dirty="0"/>
              <a:t> onto a human face. The reflected light from the face is then used to prove identity. A pre-rendered deepfake video doesn't know what </a:t>
            </a:r>
            <a:r>
              <a:rPr lang="en-IN" dirty="0" err="1"/>
              <a:t>colors</a:t>
            </a:r>
            <a:r>
              <a:rPr lang="en-IN" dirty="0"/>
              <a:t> the phone is about to flash. If the reflected light on your skin doesn't match the random sequence sent by the screen, the system immediately rejects the applicant.</a:t>
            </a:r>
          </a:p>
          <a:p>
            <a:pPr>
              <a:buFontTx/>
              <a:buChar char="-"/>
            </a:pPr>
            <a:r>
              <a:rPr lang="en-IN" dirty="0"/>
              <a:t>Device locking: Instead of simply trusting what videos come through, the app directly queries the phone’s hardware chip like Apple's Secure Enclave or Android's </a:t>
            </a:r>
            <a:r>
              <a:rPr lang="en-IN" dirty="0" err="1"/>
              <a:t>StrongBox</a:t>
            </a:r>
            <a:r>
              <a:rPr lang="en-IN" dirty="0"/>
              <a:t>. The phone proves cryptographically: </a:t>
            </a:r>
            <a:r>
              <a:rPr lang="en-IN" i="1" dirty="0"/>
              <a:t>'This video stream was captured directly from the camera sensor two milliseconds ago, and no external software modified it.'</a:t>
            </a:r>
            <a:r>
              <a:rPr lang="en-IN" dirty="0"/>
              <a:t> If an emulator or virtual camera tries to hijack the feed, the call is disconnected.</a:t>
            </a:r>
          </a:p>
          <a:p>
            <a:pPr>
              <a:buFontTx/>
              <a:buChar char="-"/>
            </a:pPr>
            <a:r>
              <a:rPr lang="en-IN" dirty="0"/>
              <a:t>NFC: Most modern passports and national IDs have a tiny microchip inside them. Rather than taking a photo of the card, modern apps ask you to hold your phone against the card to read the chip directly using NFC. That chip contains an encrypted, government-signed digital photo that an attacker cannot Photoshop</a:t>
            </a:r>
          </a:p>
        </p:txBody>
      </p:sp>
    </p:spTree>
    <p:extLst>
      <p:ext uri="{BB962C8B-B14F-4D97-AF65-F5344CB8AC3E}">
        <p14:creationId xmlns:p14="http://schemas.microsoft.com/office/powerpoint/2010/main" val="3267252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0F8046-85F8-F2A3-F826-368561EE4B13}"/>
              </a:ext>
            </a:extLst>
          </p:cNvPr>
          <p:cNvSpPr>
            <a:spLocks noGrp="1"/>
          </p:cNvSpPr>
          <p:nvPr>
            <p:ph idx="1"/>
          </p:nvPr>
        </p:nvSpPr>
        <p:spPr>
          <a:xfrm>
            <a:off x="838200" y="600891"/>
            <a:ext cx="10515600" cy="5576072"/>
          </a:xfrm>
        </p:spPr>
        <p:txBody>
          <a:bodyPr/>
          <a:lstStyle/>
          <a:p>
            <a:pPr marL="0" indent="0">
              <a:buNone/>
            </a:pPr>
            <a:r>
              <a:rPr lang="en-IN" dirty="0"/>
              <a:t>On a system, it is a bit more complicated because they don’t typically have the true depth camera systems or features for strobing light.</a:t>
            </a:r>
            <a:br>
              <a:rPr lang="en-IN" dirty="0"/>
            </a:br>
            <a:br>
              <a:rPr lang="en-IN" dirty="0"/>
            </a:br>
            <a:r>
              <a:rPr lang="en-IN" dirty="0"/>
              <a:t>Typically, they route you to phones by displaying you a QR code.</a:t>
            </a:r>
            <a:br>
              <a:rPr lang="en-IN" dirty="0"/>
            </a:br>
            <a:br>
              <a:rPr lang="en-IN" dirty="0"/>
            </a:br>
            <a:r>
              <a:rPr lang="en-IN" dirty="0"/>
              <a:t>One way is to run Fast Fourier Transform (FFT) analysis on the uploaded video frames. Because generative AI creates unnatural, repetitive mathematical frequencies across pixels, server-side models flag synthetic artifacts.</a:t>
            </a:r>
            <a:br>
              <a:rPr lang="en-IN" dirty="0"/>
            </a:br>
            <a:br>
              <a:rPr lang="en-IN" dirty="0"/>
            </a:br>
            <a:r>
              <a:rPr lang="en-IN" dirty="0"/>
              <a:t>Fallback to human proctors who asks contextual, unexpected questions or instructs the user to hold the physical card next to their cheek at dynamic angles that are difficult to replicate (</a:t>
            </a:r>
            <a:r>
              <a:rPr lang="en-IN"/>
              <a:t>at least </a:t>
            </a:r>
            <a:r>
              <a:rPr lang="en-IN" dirty="0"/>
              <a:t>with current advancement in </a:t>
            </a:r>
            <a:r>
              <a:rPr lang="en-IN"/>
              <a:t>deepfakes).</a:t>
            </a:r>
            <a:endParaRPr lang="en-IN" dirty="0"/>
          </a:p>
        </p:txBody>
      </p:sp>
    </p:spTree>
    <p:extLst>
      <p:ext uri="{BB962C8B-B14F-4D97-AF65-F5344CB8AC3E}">
        <p14:creationId xmlns:p14="http://schemas.microsoft.com/office/powerpoint/2010/main" val="831592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938</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PowerPoint Presentation</vt:lpstr>
      <vt:lpstr>Why is it required?</vt:lpstr>
      <vt:lpstr>The traditional security</vt:lpstr>
      <vt:lpstr>Crack in the shield: Deepfakes</vt:lpstr>
      <vt:lpstr>How do we secure kyc against deepfakes?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Sharath R</dc:creator>
  <cp:lastModifiedBy>Sharath R</cp:lastModifiedBy>
  <cp:revision>1</cp:revision>
  <dcterms:created xsi:type="dcterms:W3CDTF">2026-10-25T06:38:35Z</dcterms:created>
  <dcterms:modified xsi:type="dcterms:W3CDTF">2026-10-25T07:50:32Z</dcterms:modified>
</cp:coreProperties>
</file>